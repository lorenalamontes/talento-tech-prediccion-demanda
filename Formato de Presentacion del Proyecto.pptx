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69" r:id="rId13"/>
  </p:sldIdLst>
  <p:sldSz cx="12192000" cy="6858000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Trebuchet MS" panose="020B0603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hh6ZgplriQMhoKXEkHb/sqQYu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8762B1-BBA5-4F10-990C-3D418DCC286A}" v="16" dt="2026-06-04T03:11:04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348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a la Montes" userId="498b42e3d338c445" providerId="LiveId" clId="{2FBE907D-BDC0-47DF-ACF6-445417A1E9FE}"/>
    <pc:docChg chg="custSel delSld modSld">
      <pc:chgData name="Lorena la Montes" userId="498b42e3d338c445" providerId="LiveId" clId="{2FBE907D-BDC0-47DF-ACF6-445417A1E9FE}" dt="2026-06-04T03:11:21.257" v="371" actId="1076"/>
      <pc:docMkLst>
        <pc:docMk/>
      </pc:docMkLst>
      <pc:sldChg chg="addSp delSp modSp mod">
        <pc:chgData name="Lorena la Montes" userId="498b42e3d338c445" providerId="LiveId" clId="{2FBE907D-BDC0-47DF-ACF6-445417A1E9FE}" dt="2026-06-04T02:13:54.676" v="125" actId="20577"/>
        <pc:sldMkLst>
          <pc:docMk/>
          <pc:sldMk cId="0" sldId="256"/>
        </pc:sldMkLst>
        <pc:spChg chg="mod">
          <ac:chgData name="Lorena la Montes" userId="498b42e3d338c445" providerId="LiveId" clId="{2FBE907D-BDC0-47DF-ACF6-445417A1E9FE}" dt="2026-06-04T02:13:38.995" v="99" actId="207"/>
          <ac:spMkLst>
            <pc:docMk/>
            <pc:sldMk cId="0" sldId="256"/>
            <ac:spMk id="86" creationId="{00000000-0000-0000-0000-000000000000}"/>
          </ac:spMkLst>
        </pc:spChg>
        <pc:spChg chg="mod">
          <ac:chgData name="Lorena la Montes" userId="498b42e3d338c445" providerId="LiveId" clId="{2FBE907D-BDC0-47DF-ACF6-445417A1E9FE}" dt="2026-06-04T02:13:54.676" v="125" actId="20577"/>
          <ac:spMkLst>
            <pc:docMk/>
            <pc:sldMk cId="0" sldId="256"/>
            <ac:spMk id="87" creationId="{00000000-0000-0000-0000-000000000000}"/>
          </ac:spMkLst>
        </pc:spChg>
        <pc:graphicFrameChg chg="add del mod modGraphic">
          <ac:chgData name="Lorena la Montes" userId="498b42e3d338c445" providerId="LiveId" clId="{2FBE907D-BDC0-47DF-ACF6-445417A1E9FE}" dt="2026-06-04T02:05:32.062" v="65" actId="478"/>
          <ac:graphicFrameMkLst>
            <pc:docMk/>
            <pc:sldMk cId="0" sldId="256"/>
            <ac:graphicFrameMk id="2" creationId="{BFB1519D-0B21-01B8-C8D5-7972D1DB56BF}"/>
          </ac:graphicFrameMkLst>
        </pc:graphicFrameChg>
      </pc:sldChg>
      <pc:sldChg chg="delSp modSp mod">
        <pc:chgData name="Lorena la Montes" userId="498b42e3d338c445" providerId="LiveId" clId="{2FBE907D-BDC0-47DF-ACF6-445417A1E9FE}" dt="2026-06-04T02:30:10.855" v="365" actId="1076"/>
        <pc:sldMkLst>
          <pc:docMk/>
          <pc:sldMk cId="0" sldId="257"/>
        </pc:sldMkLst>
        <pc:spChg chg="mod">
          <ac:chgData name="Lorena la Montes" userId="498b42e3d338c445" providerId="LiveId" clId="{2FBE907D-BDC0-47DF-ACF6-445417A1E9FE}" dt="2026-06-04T02:14:09.577" v="128" actId="14100"/>
          <ac:spMkLst>
            <pc:docMk/>
            <pc:sldMk cId="0" sldId="257"/>
            <ac:spMk id="93" creationId="{00000000-0000-0000-0000-000000000000}"/>
          </ac:spMkLst>
        </pc:spChg>
        <pc:spChg chg="mod">
          <ac:chgData name="Lorena la Montes" userId="498b42e3d338c445" providerId="LiveId" clId="{2FBE907D-BDC0-47DF-ACF6-445417A1E9FE}" dt="2026-06-04T02:16:49.977" v="141" actId="14100"/>
          <ac:spMkLst>
            <pc:docMk/>
            <pc:sldMk cId="0" sldId="257"/>
            <ac:spMk id="94" creationId="{00000000-0000-0000-0000-000000000000}"/>
          </ac:spMkLst>
        </pc:spChg>
        <pc:picChg chg="mod">
          <ac:chgData name="Lorena la Montes" userId="498b42e3d338c445" providerId="LiveId" clId="{2FBE907D-BDC0-47DF-ACF6-445417A1E9FE}" dt="2026-06-04T02:30:10.855" v="365" actId="1076"/>
          <ac:picMkLst>
            <pc:docMk/>
            <pc:sldMk cId="0" sldId="257"/>
            <ac:picMk id="92" creationId="{00000000-0000-0000-0000-000000000000}"/>
          </ac:picMkLst>
        </pc:picChg>
        <pc:picChg chg="del">
          <ac:chgData name="Lorena la Montes" userId="498b42e3d338c445" providerId="LiveId" clId="{2FBE907D-BDC0-47DF-ACF6-445417A1E9FE}" dt="2026-06-04T02:14:58.116" v="137" actId="478"/>
          <ac:picMkLst>
            <pc:docMk/>
            <pc:sldMk cId="0" sldId="257"/>
            <ac:picMk id="95" creationId="{00000000-0000-0000-0000-000000000000}"/>
          </ac:picMkLst>
        </pc:picChg>
      </pc:sldChg>
      <pc:sldChg chg="delSp modSp mod">
        <pc:chgData name="Lorena la Montes" userId="498b42e3d338c445" providerId="LiveId" clId="{2FBE907D-BDC0-47DF-ACF6-445417A1E9FE}" dt="2026-06-04T03:10:09.137" v="368" actId="14100"/>
        <pc:sldMkLst>
          <pc:docMk/>
          <pc:sldMk cId="0" sldId="258"/>
        </pc:sldMkLst>
        <pc:spChg chg="mod">
          <ac:chgData name="Lorena la Montes" userId="498b42e3d338c445" providerId="LiveId" clId="{2FBE907D-BDC0-47DF-ACF6-445417A1E9FE}" dt="2026-06-04T03:10:09.137" v="368" actId="14100"/>
          <ac:spMkLst>
            <pc:docMk/>
            <pc:sldMk cId="0" sldId="258"/>
            <ac:spMk id="102" creationId="{00000000-0000-0000-0000-000000000000}"/>
          </ac:spMkLst>
        </pc:spChg>
        <pc:picChg chg="del">
          <ac:chgData name="Lorena la Montes" userId="498b42e3d338c445" providerId="LiveId" clId="{2FBE907D-BDC0-47DF-ACF6-445417A1E9FE}" dt="2026-06-04T02:17:01.211" v="142" actId="478"/>
          <ac:picMkLst>
            <pc:docMk/>
            <pc:sldMk cId="0" sldId="258"/>
            <ac:picMk id="103" creationId="{00000000-0000-0000-0000-000000000000}"/>
          </ac:picMkLst>
        </pc:picChg>
      </pc:sldChg>
      <pc:sldChg chg="modSp mod modNotes">
        <pc:chgData name="Lorena la Montes" userId="498b42e3d338c445" providerId="LiveId" clId="{2FBE907D-BDC0-47DF-ACF6-445417A1E9FE}" dt="2026-06-04T02:35:13.097" v="366" actId="6549"/>
        <pc:sldMkLst>
          <pc:docMk/>
          <pc:sldMk cId="0" sldId="259"/>
        </pc:sldMkLst>
        <pc:spChg chg="mod">
          <ac:chgData name="Lorena la Montes" userId="498b42e3d338c445" providerId="LiveId" clId="{2FBE907D-BDC0-47DF-ACF6-445417A1E9FE}" dt="2026-06-04T02:17:47.813" v="182" actId="313"/>
          <ac:spMkLst>
            <pc:docMk/>
            <pc:sldMk cId="0" sldId="259"/>
            <ac:spMk id="111" creationId="{00000000-0000-0000-0000-000000000000}"/>
          </ac:spMkLst>
        </pc:spChg>
        <pc:spChg chg="mod">
          <ac:chgData name="Lorena la Montes" userId="498b42e3d338c445" providerId="LiveId" clId="{2FBE907D-BDC0-47DF-ACF6-445417A1E9FE}" dt="2026-06-04T02:35:13.097" v="366" actId="6549"/>
          <ac:spMkLst>
            <pc:docMk/>
            <pc:sldMk cId="0" sldId="259"/>
            <ac:spMk id="113" creationId="{00000000-0000-0000-0000-000000000000}"/>
          </ac:spMkLst>
        </pc:spChg>
      </pc:sldChg>
      <pc:sldChg chg="modSp mod">
        <pc:chgData name="Lorena la Montes" userId="498b42e3d338c445" providerId="LiveId" clId="{2FBE907D-BDC0-47DF-ACF6-445417A1E9FE}" dt="2026-06-04T03:10:36.393" v="369" actId="20577"/>
        <pc:sldMkLst>
          <pc:docMk/>
          <pc:sldMk cId="0" sldId="260"/>
        </pc:sldMkLst>
        <pc:spChg chg="mod">
          <ac:chgData name="Lorena la Montes" userId="498b42e3d338c445" providerId="LiveId" clId="{2FBE907D-BDC0-47DF-ACF6-445417A1E9FE}" dt="2026-06-04T03:10:36.393" v="369" actId="20577"/>
          <ac:spMkLst>
            <pc:docMk/>
            <pc:sldMk cId="0" sldId="260"/>
            <ac:spMk id="121" creationId="{00000000-0000-0000-0000-000000000000}"/>
          </ac:spMkLst>
        </pc:spChg>
      </pc:sldChg>
      <pc:sldChg chg="delSp modSp mod modNotes">
        <pc:chgData name="Lorena la Montes" userId="498b42e3d338c445" providerId="LiveId" clId="{2FBE907D-BDC0-47DF-ACF6-445417A1E9FE}" dt="2026-06-04T02:20:42.868" v="252" actId="20577"/>
        <pc:sldMkLst>
          <pc:docMk/>
          <pc:sldMk cId="0" sldId="261"/>
        </pc:sldMkLst>
        <pc:spChg chg="mod">
          <ac:chgData name="Lorena la Montes" userId="498b42e3d338c445" providerId="LiveId" clId="{2FBE907D-BDC0-47DF-ACF6-445417A1E9FE}" dt="2026-06-04T02:20:42.868" v="252" actId="20577"/>
          <ac:spMkLst>
            <pc:docMk/>
            <pc:sldMk cId="0" sldId="261"/>
            <ac:spMk id="130" creationId="{00000000-0000-0000-0000-000000000000}"/>
          </ac:spMkLst>
        </pc:spChg>
        <pc:spChg chg="mod">
          <ac:chgData name="Lorena la Montes" userId="498b42e3d338c445" providerId="LiveId" clId="{2FBE907D-BDC0-47DF-ACF6-445417A1E9FE}" dt="2026-06-04T02:20:17.471" v="208"/>
          <ac:spMkLst>
            <pc:docMk/>
            <pc:sldMk cId="0" sldId="261"/>
            <ac:spMk id="131" creationId="{00000000-0000-0000-0000-000000000000}"/>
          </ac:spMkLst>
        </pc:spChg>
        <pc:spChg chg="mod">
          <ac:chgData name="Lorena la Montes" userId="498b42e3d338c445" providerId="LiveId" clId="{2FBE907D-BDC0-47DF-ACF6-445417A1E9FE}" dt="2026-06-04T02:20:04.873" v="206" actId="14100"/>
          <ac:spMkLst>
            <pc:docMk/>
            <pc:sldMk cId="0" sldId="261"/>
            <ac:spMk id="132" creationId="{00000000-0000-0000-0000-000000000000}"/>
          </ac:spMkLst>
        </pc:spChg>
        <pc:picChg chg="del">
          <ac:chgData name="Lorena la Montes" userId="498b42e3d338c445" providerId="LiveId" clId="{2FBE907D-BDC0-47DF-ACF6-445417A1E9FE}" dt="2026-06-04T02:18:53.747" v="186" actId="478"/>
          <ac:picMkLst>
            <pc:docMk/>
            <pc:sldMk cId="0" sldId="261"/>
            <ac:picMk id="133" creationId="{00000000-0000-0000-0000-000000000000}"/>
          </ac:picMkLst>
        </pc:picChg>
      </pc:sldChg>
      <pc:sldChg chg="del">
        <pc:chgData name="Lorena la Montes" userId="498b42e3d338c445" providerId="LiveId" clId="{2FBE907D-BDC0-47DF-ACF6-445417A1E9FE}" dt="2026-06-04T02:19:00.735" v="187" actId="47"/>
        <pc:sldMkLst>
          <pc:docMk/>
          <pc:sldMk cId="0" sldId="262"/>
        </pc:sldMkLst>
      </pc:sldChg>
      <pc:sldChg chg="modSp mod">
        <pc:chgData name="Lorena la Montes" userId="498b42e3d338c445" providerId="LiveId" clId="{2FBE907D-BDC0-47DF-ACF6-445417A1E9FE}" dt="2026-06-04T02:23:17.964" v="342" actId="20577"/>
        <pc:sldMkLst>
          <pc:docMk/>
          <pc:sldMk cId="0" sldId="263"/>
        </pc:sldMkLst>
        <pc:spChg chg="mod">
          <ac:chgData name="Lorena la Montes" userId="498b42e3d338c445" providerId="LiveId" clId="{2FBE907D-BDC0-47DF-ACF6-445417A1E9FE}" dt="2026-06-04T02:23:17.964" v="342" actId="20577"/>
          <ac:spMkLst>
            <pc:docMk/>
            <pc:sldMk cId="0" sldId="263"/>
            <ac:spMk id="154" creationId="{00000000-0000-0000-0000-000000000000}"/>
          </ac:spMkLst>
        </pc:spChg>
      </pc:sldChg>
      <pc:sldChg chg="modSp mod">
        <pc:chgData name="Lorena la Montes" userId="498b42e3d338c445" providerId="LiveId" clId="{2FBE907D-BDC0-47DF-ACF6-445417A1E9FE}" dt="2026-06-04T02:23:26.243" v="346" actId="20577"/>
        <pc:sldMkLst>
          <pc:docMk/>
          <pc:sldMk cId="0" sldId="264"/>
        </pc:sldMkLst>
        <pc:spChg chg="mod">
          <ac:chgData name="Lorena la Montes" userId="498b42e3d338c445" providerId="LiveId" clId="{2FBE907D-BDC0-47DF-ACF6-445417A1E9FE}" dt="2026-06-04T02:23:26.243" v="346" actId="20577"/>
          <ac:spMkLst>
            <pc:docMk/>
            <pc:sldMk cId="0" sldId="264"/>
            <ac:spMk id="162" creationId="{00000000-0000-0000-0000-000000000000}"/>
          </ac:spMkLst>
        </pc:spChg>
      </pc:sldChg>
      <pc:sldChg chg="modSp mod">
        <pc:chgData name="Lorena la Montes" userId="498b42e3d338c445" providerId="LiveId" clId="{2FBE907D-BDC0-47DF-ACF6-445417A1E9FE}" dt="2026-06-04T03:11:21.257" v="371" actId="1076"/>
        <pc:sldMkLst>
          <pc:docMk/>
          <pc:sldMk cId="0" sldId="265"/>
        </pc:sldMkLst>
        <pc:spChg chg="mod">
          <ac:chgData name="Lorena la Montes" userId="498b42e3d338c445" providerId="LiveId" clId="{2FBE907D-BDC0-47DF-ACF6-445417A1E9FE}" dt="2026-06-04T03:11:21.257" v="371" actId="1076"/>
          <ac:spMkLst>
            <pc:docMk/>
            <pc:sldMk cId="0" sldId="265"/>
            <ac:spMk id="170" creationId="{00000000-0000-0000-0000-000000000000}"/>
          </ac:spMkLst>
        </pc:spChg>
      </pc:sldChg>
      <pc:sldChg chg="del">
        <pc:chgData name="Lorena la Montes" userId="498b42e3d338c445" providerId="LiveId" clId="{2FBE907D-BDC0-47DF-ACF6-445417A1E9FE}" dt="2026-06-04T02:23:46.635" v="347" actId="47"/>
        <pc:sldMkLst>
          <pc:docMk/>
          <pc:sldMk cId="0" sldId="266"/>
        </pc:sldMkLst>
      </pc:sldChg>
      <pc:sldChg chg="modSp mod">
        <pc:chgData name="Lorena la Montes" userId="498b42e3d338c445" providerId="LiveId" clId="{2FBE907D-BDC0-47DF-ACF6-445417A1E9FE}" dt="2026-06-04T02:24:05.693" v="363" actId="6549"/>
        <pc:sldMkLst>
          <pc:docMk/>
          <pc:sldMk cId="0" sldId="268"/>
        </pc:sldMkLst>
        <pc:spChg chg="mod">
          <ac:chgData name="Lorena la Montes" userId="498b42e3d338c445" providerId="LiveId" clId="{2FBE907D-BDC0-47DF-ACF6-445417A1E9FE}" dt="2026-06-04T02:24:05.693" v="363" actId="6549"/>
          <ac:spMkLst>
            <pc:docMk/>
            <pc:sldMk cId="0" sldId="268"/>
            <ac:spMk id="193" creationId="{00000000-0000-0000-0000-000000000000}"/>
          </ac:spMkLst>
        </pc:spChg>
        <pc:spChg chg="mod">
          <ac:chgData name="Lorena la Montes" userId="498b42e3d338c445" providerId="LiveId" clId="{2FBE907D-BDC0-47DF-ACF6-445417A1E9FE}" dt="2026-06-04T02:23:58.708" v="360" actId="20577"/>
          <ac:spMkLst>
            <pc:docMk/>
            <pc:sldMk cId="0" sldId="268"/>
            <ac:spMk id="19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A group of women looking at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4835" y="4064710"/>
            <a:ext cx="2715709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924835" y="2184978"/>
            <a:ext cx="524447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</a:rPr>
              <a:t>Aliado Comercial </a:t>
            </a:r>
          </a:p>
          <a:p>
            <a:r>
              <a:rPr lang="es-ES" sz="2800" dirty="0" err="1">
                <a:solidFill>
                  <a:schemeClr val="bg1"/>
                </a:solidFill>
              </a:rPr>
              <a:t>ConectaPro</a:t>
            </a:r>
            <a:endParaRPr lang="es-ES" sz="2600" dirty="0">
              <a:solidFill>
                <a:schemeClr val="bg1"/>
              </a:solidFill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535418" y="4349887"/>
            <a:ext cx="4018800" cy="18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500"/>
            </a:pPr>
            <a:r>
              <a:rPr lang="es-ES" sz="1600" dirty="0">
                <a:solidFill>
                  <a:schemeClr val="bg1"/>
                </a:solidFill>
              </a:rPr>
              <a:t>Carolina Marín</a:t>
            </a:r>
          </a:p>
          <a:p>
            <a:pPr>
              <a:buSzPts val="1500"/>
            </a:pPr>
            <a:r>
              <a:rPr lang="es-ES" sz="1600" dirty="0" err="1">
                <a:solidFill>
                  <a:schemeClr val="bg1"/>
                </a:solidFill>
              </a:rPr>
              <a:t>Leysi</a:t>
            </a:r>
            <a:r>
              <a:rPr lang="es-ES" sz="1600" dirty="0">
                <a:solidFill>
                  <a:schemeClr val="bg1"/>
                </a:solidFill>
              </a:rPr>
              <a:t> Andrea Valencia </a:t>
            </a:r>
          </a:p>
          <a:p>
            <a:pPr>
              <a:buSzPts val="1500"/>
            </a:pPr>
            <a:r>
              <a:rPr lang="es-ES" sz="1600" dirty="0">
                <a:solidFill>
                  <a:schemeClr val="bg1"/>
                </a:solidFill>
              </a:rPr>
              <a:t>Leidy Lorena Montes Gómez</a:t>
            </a:r>
          </a:p>
          <a:p>
            <a:pPr>
              <a:buSzPts val="1500"/>
            </a:pPr>
            <a:r>
              <a:rPr lang="es-ES" sz="1600" dirty="0">
                <a:solidFill>
                  <a:schemeClr val="bg1"/>
                </a:solidFill>
              </a:rPr>
              <a:t>Miguel Hernández </a:t>
            </a:r>
          </a:p>
          <a:p>
            <a:pPr>
              <a:buSzPts val="1500"/>
            </a:pPr>
            <a:r>
              <a:rPr lang="es-ES" sz="1600" dirty="0">
                <a:solidFill>
                  <a:schemeClr val="bg1"/>
                </a:solidFill>
              </a:rPr>
              <a:t>Alexandra Orozco </a:t>
            </a:r>
          </a:p>
          <a:p>
            <a:pPr>
              <a:buSzPts val="1500"/>
            </a:pPr>
            <a:r>
              <a:rPr lang="es-ES" sz="1600" dirty="0">
                <a:solidFill>
                  <a:schemeClr val="bg1"/>
                </a:solidFill>
              </a:rPr>
              <a:t>John Camargo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2510240" y="963148"/>
            <a:ext cx="316979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1" i="0" u="none" strike="noStrike" cap="none" dirty="0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3600" b="1" i="0" u="none" strike="noStrike" cap="none" dirty="0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118375" y="1724825"/>
            <a:ext cx="8039072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ES" sz="2000" dirty="0">
                <a:latin typeface="Trebuchet MS" panose="020B0603020202020204" pitchFamily="34" charset="0"/>
              </a:rPr>
              <a:t>Actualmente, el proceso de ventas se caracteriza por un enfoque predominantemente REACTIVO, basado en la respuesta a la demanda existente, lo que limita la capacidad de anticiparse a las necesidades del cliente. Esta situación evidencia la necesidad de fortalecer la gestión comercial mediante estrategias PROACTIVAS que permitan:</a:t>
            </a:r>
          </a:p>
          <a:p>
            <a:r>
              <a:rPr lang="es-ES" sz="2000" dirty="0">
                <a:latin typeface="Trebuchet MS" panose="020B0603020202020204" pitchFamily="34" charset="0"/>
              </a:rPr>
              <a:t> </a:t>
            </a:r>
          </a:p>
          <a:p>
            <a:r>
              <a:rPr lang="es-ES" sz="2000" dirty="0">
                <a:latin typeface="Trebuchet MS" panose="020B0603020202020204" pitchFamily="34" charset="0"/>
              </a:rPr>
              <a:t>  • Incrementar la presencia frente al cliente</a:t>
            </a:r>
          </a:p>
          <a:p>
            <a:r>
              <a:rPr lang="es-ES" sz="2000" dirty="0">
                <a:latin typeface="Trebuchet MS" panose="020B0603020202020204" pitchFamily="34" charset="0"/>
              </a:rPr>
              <a:t>  • Mejorar la identificación de oportunidades de venta</a:t>
            </a:r>
          </a:p>
          <a:p>
            <a:r>
              <a:rPr lang="es-ES" sz="2000" dirty="0">
                <a:latin typeface="Trebuchet MS" panose="020B0603020202020204" pitchFamily="34" charset="0"/>
              </a:rPr>
              <a:t>  • Optimizar la toma de decisiones comerciales basada en datos</a:t>
            </a:r>
            <a:endParaRPr sz="20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2531165" y="1046923"/>
            <a:ext cx="56553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sz="36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787078" y="2034450"/>
            <a:ext cx="10311247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buSzPts val="2200"/>
            </a:pPr>
            <a:r>
              <a:rPr lang="es-ES" sz="2200" dirty="0">
                <a:latin typeface="Trebuchet MS"/>
                <a:ea typeface="Trebuchet MS"/>
                <a:cs typeface="Trebuchet MS"/>
                <a:sym typeface="Trebuchet MS"/>
              </a:rPr>
              <a:t>Actualmente nuestros clientes son atendidos bajo un modelo REACTIVO: los asesores responden a la demanda sin anticiparse. Esto genera pérdidas de ventas, quiebres de inventario y baja fidelización.</a:t>
            </a:r>
          </a:p>
          <a:p>
            <a:r>
              <a:rPr lang="es-ES" sz="2200" dirty="0">
                <a:latin typeface="Trebuchet MS"/>
              </a:rPr>
              <a:t>¿Es posible predecir el volumen y frecuencia de compras futuras por cliente para transformar la gestión comercial de reactiva a proactiva?</a:t>
            </a:r>
          </a:p>
          <a:p>
            <a:r>
              <a:rPr lang="es-ES" sz="2200" dirty="0">
                <a:latin typeface="Trebuchet MS"/>
              </a:rPr>
              <a:t>Variable objetivo: predicción del consumo futuro por cliente en unidades o valor ($), usando Regresión Lineal y K-Means </a:t>
            </a:r>
            <a:r>
              <a:rPr lang="es-ES" sz="2200" dirty="0" err="1">
                <a:latin typeface="Trebuchet MS"/>
              </a:rPr>
              <a:t>Clustering</a:t>
            </a:r>
            <a:r>
              <a:rPr lang="es-ES" sz="2200" dirty="0">
                <a:latin typeface="Trebuchet MS"/>
              </a:rPr>
              <a:t> sobre el historial de ventas de </a:t>
            </a:r>
            <a:r>
              <a:rPr lang="es-ES" sz="2200" dirty="0" err="1">
                <a:latin typeface="Trebuchet MS"/>
              </a:rPr>
              <a:t>Mundipartes</a:t>
            </a:r>
            <a:r>
              <a:rPr lang="es-ES" sz="2200" dirty="0">
                <a:latin typeface="Trebuchet MS"/>
              </a:rPr>
              <a:t>.</a:t>
            </a:r>
            <a:endParaRPr lang="es-ES" sz="22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4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2803390" y="921273"/>
            <a:ext cx="201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36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1166173" y="1593988"/>
            <a:ext cx="6731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endParaRPr sz="28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1166174" y="2072625"/>
            <a:ext cx="9228401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ES" sz="1800" dirty="0">
                <a:latin typeface="Trebuchet MS" panose="020B0603020202020204" pitchFamily="34" charset="0"/>
              </a:rPr>
              <a:t>Generar estimaciones precisas de consumo futuro por cliente, que faciliten la toma de</a:t>
            </a:r>
          </a:p>
          <a:p>
            <a:r>
              <a:rPr lang="es-ES" sz="1800" dirty="0">
                <a:latin typeface="Trebuchet MS" panose="020B0603020202020204" pitchFamily="34" charset="0"/>
              </a:rPr>
              <a:t>decisiones proactivas, mejoren los niveles de servicio y reduzcan riesgos asociados a</a:t>
            </a:r>
          </a:p>
          <a:p>
            <a:r>
              <a:rPr lang="es-ES" sz="1800" dirty="0">
                <a:latin typeface="Trebuchet MS" panose="020B0603020202020204" pitchFamily="34" charset="0"/>
              </a:rPr>
              <a:t>quiebres de inventario o sobre stock.</a:t>
            </a:r>
            <a:endParaRPr sz="18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166173" y="3270775"/>
            <a:ext cx="6731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Específicos </a:t>
            </a:r>
            <a:endParaRPr sz="28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166175" y="3873125"/>
            <a:ext cx="10287300" cy="113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92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</a:pPr>
            <a:r>
              <a:rPr lang="es-MX" sz="19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Organizar y clasificar información.</a:t>
            </a:r>
            <a:endParaRPr sz="19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MX" sz="19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Presentar los resultados a través de gráficos</a:t>
            </a:r>
            <a:endParaRPr sz="25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6850" y="2875125"/>
            <a:ext cx="2689900" cy="268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2531165" y="1046923"/>
            <a:ext cx="264245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36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4292825" y="2101575"/>
            <a:ext cx="7308300" cy="309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Char char="●"/>
            </a:pPr>
            <a:r>
              <a:rPr lang="es-MX" sz="21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Recolección de datos.</a:t>
            </a:r>
            <a:endParaRPr sz="21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Char char="●"/>
            </a:pPr>
            <a:r>
              <a:rPr lang="es-MX" sz="21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Procesamiento y análisis con Python en Google </a:t>
            </a:r>
            <a:r>
              <a:rPr lang="es-MX" sz="2100" b="0" i="0" u="none" strike="noStrike" cap="none" dirty="0" err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Colab</a:t>
            </a:r>
            <a:r>
              <a:rPr lang="es-MX" sz="21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1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Char char="●"/>
            </a:pPr>
            <a:r>
              <a:rPr lang="es-MX" sz="21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Uso de librerías especializadas para análisis.</a:t>
            </a:r>
            <a:endParaRPr sz="21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rebuchet MS"/>
              <a:buChar char="●"/>
            </a:pPr>
            <a:r>
              <a:rPr lang="es-MX" sz="21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Limpieza, depuración y normalización de las bases de datos.</a:t>
            </a:r>
            <a:endParaRPr sz="21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rebuchet MS"/>
              <a:buChar char="●"/>
            </a:pPr>
            <a:r>
              <a:rPr lang="es-MX" sz="21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Integración de la información.</a:t>
            </a:r>
            <a:endParaRPr sz="21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rebuchet MS"/>
              <a:buChar char="●"/>
            </a:pPr>
            <a:r>
              <a:rPr lang="es-MX" sz="21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Presentación de resultados en Looker Studio, mediante, gráficos de barras, donas y líneas temporales.</a:t>
            </a:r>
            <a:endParaRPr sz="21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3550" y="2020750"/>
            <a:ext cx="3871750" cy="26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6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 txBox="1"/>
          <p:nvPr/>
        </p:nvSpPr>
        <p:spPr>
          <a:xfrm>
            <a:off x="2531165" y="1046923"/>
            <a:ext cx="690701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Recolección y Exploración de Datos</a:t>
            </a:r>
            <a:endParaRPr sz="36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1193600" y="1693250"/>
            <a:ext cx="883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952800" y="1831700"/>
            <a:ext cx="104388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buSzPts val="1700"/>
            </a:pPr>
            <a:r>
              <a:rPr lang="es-ES" sz="2000" dirty="0">
                <a:latin typeface="Trebuchet MS" panose="020B0603020202020204" pitchFamily="34" charset="0"/>
              </a:rPr>
              <a:t>Base de datos real de la empresa </a:t>
            </a:r>
            <a:r>
              <a:rPr lang="es-ES" sz="2000" dirty="0" err="1">
                <a:latin typeface="Trebuchet MS" panose="020B0603020202020204" pitchFamily="34" charset="0"/>
              </a:rPr>
              <a:t>Mundipartes</a:t>
            </a:r>
            <a:endParaRPr sz="20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952799" y="3063200"/>
            <a:ext cx="7196119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buSzPts val="1700"/>
            </a:pPr>
            <a:r>
              <a:rPr lang="es-ES" sz="1800" dirty="0">
                <a:latin typeface="Trebuchet MS" panose="020B0603020202020204" pitchFamily="34" charset="0"/>
              </a:rPr>
              <a:t>Base de datos de clientes por asesor. Historial de ventas por cliente y por asesor</a:t>
            </a:r>
            <a:endParaRPr lang="es-ES" sz="1800" dirty="0">
              <a:latin typeface="Trebuchet MS" panose="020B0603020202020204" pitchFamily="34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738074" y="4032800"/>
            <a:ext cx="9812949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s-MX" sz="18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____ registros.</a:t>
            </a:r>
            <a:endParaRPr sz="18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  <a:p>
            <a:pPr marL="45720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s-MX" sz="18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__ columnas: __ categóricas de tipo </a:t>
            </a:r>
            <a:r>
              <a:rPr lang="es-MX" sz="1800" b="0" i="0" u="none" strike="noStrike" cap="none" dirty="0" err="1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object</a:t>
            </a:r>
            <a:r>
              <a:rPr lang="es-MX" sz="18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 y __ numéricas de tipo  float64.</a:t>
            </a:r>
            <a:endParaRPr sz="18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  <a:p>
            <a:pPr marL="45720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s-MX" sz="1800" b="0" i="0" u="none" strike="noStrike" cap="none" dirty="0">
                <a:solidFill>
                  <a:srgbClr val="000000"/>
                </a:solidFill>
                <a:latin typeface="Trebuchet MS" panose="020B0603020202020204" pitchFamily="34" charset="0"/>
                <a:sym typeface="Arial"/>
              </a:rPr>
              <a:t>____ datos nulos.</a:t>
            </a:r>
            <a:endParaRPr sz="1800" b="0" i="0" u="none" strike="noStrike" cap="none" dirty="0">
              <a:solidFill>
                <a:srgbClr val="000000"/>
              </a:solidFill>
              <a:latin typeface="Trebuchet MS" panose="020B0603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7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 txBox="1"/>
          <p:nvPr/>
        </p:nvSpPr>
        <p:spPr>
          <a:xfrm>
            <a:off x="2589606" y="1150161"/>
            <a:ext cx="666002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Preparación o Limpieza de Datos</a:t>
            </a:r>
            <a:endParaRPr sz="36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1037175" y="1989650"/>
            <a:ext cx="7323600" cy="17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rebuchet MS"/>
              <a:buChar char="●"/>
            </a:pP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Eliminación de columnas redundantes y registros con nulos ___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rebuchet MS"/>
              <a:buChar char="●"/>
            </a:pP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Extracción del año de ejecución y filtrado 2025 y 2026.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rebuchet MS"/>
              <a:buChar char="●"/>
            </a:pP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Homologación de nombres y eliminación de duplicados.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rebuchet MS"/>
              <a:buChar char="●"/>
            </a:pP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Integración de bases en una base consolidada.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6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rebuchet MS"/>
              <a:buChar char="●"/>
            </a:pP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 </a:t>
            </a:r>
            <a:r>
              <a:rPr lang="es-MX" sz="1700" b="0" i="0" u="none" strike="noStrike" cap="none" dirty="0" err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df</a:t>
            </a: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clientes: _______ registros organizados por fecha de compra, articulo, en ___ variables relevantes.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4">
            <a:alphaModFix amt="72000"/>
          </a:blip>
          <a:srcRect/>
          <a:stretch/>
        </p:blipFill>
        <p:spPr>
          <a:xfrm>
            <a:off x="8773525" y="2055975"/>
            <a:ext cx="2875850" cy="28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8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/>
        </p:nvSpPr>
        <p:spPr>
          <a:xfrm>
            <a:off x="2383681" y="1032174"/>
            <a:ext cx="685565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Visualización exploratoria de datos</a:t>
            </a:r>
            <a:endParaRPr sz="36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2461025" y="2975275"/>
            <a:ext cx="71988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2461018" y="2314849"/>
            <a:ext cx="6855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-MX" sz="34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Dashboard Looker Studio:</a:t>
            </a:r>
            <a:endParaRPr sz="34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2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2"/>
          <p:cNvSpPr txBox="1"/>
          <p:nvPr/>
        </p:nvSpPr>
        <p:spPr>
          <a:xfrm>
            <a:off x="4405590" y="675023"/>
            <a:ext cx="2693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36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>
            <a:off x="4056877" y="1630899"/>
            <a:ext cx="7338300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SzPts val="1800"/>
            </a:pPr>
            <a:r>
              <a:rPr lang="es-ES" sz="18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El modelo predictivo permite transformar la gestión comercial de reactiva a proactiva, generando mayor fidelización y crecimiento en ventas.</a:t>
            </a:r>
          </a:p>
          <a:p>
            <a:r>
              <a:rPr lang="es-ES" sz="1800" dirty="0">
                <a:solidFill>
                  <a:schemeClr val="dk2"/>
                </a:solidFill>
                <a:latin typeface="Trebuchet MS"/>
              </a:rPr>
              <a:t>La calidad del dato es el factor crítico: la fragmentación entre CRM, ERP y Excel requiere un Gobierno de Datos formal para garantizar resultados confiables.</a:t>
            </a:r>
          </a:p>
          <a:p>
            <a:r>
              <a:rPr lang="es-ES" sz="1800" dirty="0">
                <a:solidFill>
                  <a:schemeClr val="dk2"/>
                </a:solidFill>
                <a:latin typeface="Trebuchet MS"/>
              </a:rPr>
              <a:t>La ética fue eje central: datos anonimizados, política de Habeas Data y supervisión humana garantizan que la IA sea una herramienta de apoyo, no de reemplazo del asesor.</a:t>
            </a:r>
            <a:endParaRPr lang="es-ES" sz="17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1" name="Google Shape;17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3250" y="2380550"/>
            <a:ext cx="2282900" cy="22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 txBox="1"/>
          <p:nvPr/>
        </p:nvSpPr>
        <p:spPr>
          <a:xfrm>
            <a:off x="2531165" y="1046923"/>
            <a:ext cx="366382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sz="36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4286250" y="1966800"/>
            <a:ext cx="7412100" cy="3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rebuchet MS"/>
              <a:buChar char="●"/>
            </a:pP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Es necesario analizar la relación entre inversión pública e IPM para garantizar asignaciones más equitativas y efectivas.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rebuchet MS"/>
              <a:buChar char="●"/>
            </a:pP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 requiere priorizar datos actualizados, completos y estandarizados que permitan comparaciones confiables entre territorios y periodos.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rebuchet MS"/>
              <a:buChar char="●"/>
            </a:pP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 fundamental incorporar modelos analíticos avanzados (correlación, regresión, machine </a:t>
            </a:r>
            <a:r>
              <a:rPr lang="es-MX" sz="1700" b="0" i="0" u="none" strike="noStrike" cap="none" dirty="0" err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learning</a:t>
            </a: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) para proyectar escenarios de política pública.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rebuchet MS"/>
              <a:buChar char="●"/>
            </a:pP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Integrar metodologías de análisis con políticas públicas para orientar decisiones de inversión más eficientes.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rebuchet MS"/>
              <a:buChar char="●"/>
            </a:pPr>
            <a:r>
              <a:rPr lang="es-MX" sz="17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 recomienda documentar todas las etapas del proceso con el fin de asegurar transparencia, trazabilidad y replicabilidad.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8550" y="2196000"/>
            <a:ext cx="2466000" cy="24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4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4"/>
          <p:cNvSpPr txBox="1"/>
          <p:nvPr/>
        </p:nvSpPr>
        <p:spPr>
          <a:xfrm>
            <a:off x="1923918" y="1486675"/>
            <a:ext cx="89652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1" i="0" u="none" strike="noStrike" cap="none" dirty="0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Enlace a Google </a:t>
            </a:r>
            <a:r>
              <a:rPr lang="es-MX" sz="3600" b="1" i="0" u="none" strike="noStrike" cap="none" dirty="0" err="1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Colab</a:t>
            </a:r>
            <a:r>
              <a:rPr lang="es-MX" sz="3600" b="1" i="0" u="none" strike="noStrike" cap="none" dirty="0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600" b="1" i="0" u="none" strike="noStrike" cap="none" dirty="0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2247225" y="2310075"/>
            <a:ext cx="855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dirty="0">
                <a:latin typeface="Trebuchet MS"/>
                <a:ea typeface="Trebuchet MS"/>
                <a:cs typeface="Trebuchet MS"/>
                <a:sym typeface="Trebuchet MS"/>
              </a:rPr>
              <a:t>LINK</a:t>
            </a:r>
            <a:endParaRPr sz="14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5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3222870" y="4203245"/>
            <a:ext cx="603780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MX" sz="7200" b="1" i="0" u="none" strike="noStrike" cap="none">
                <a:solidFill>
                  <a:srgbClr val="242B5A"/>
                </a:solidFill>
                <a:latin typeface="Calibri"/>
                <a:ea typeface="Calibri"/>
                <a:cs typeface="Calibri"/>
                <a:sym typeface="Calibri"/>
              </a:rPr>
              <a:t>Muchas gracias</a:t>
            </a:r>
            <a:endParaRPr sz="7200" b="1" i="0" u="none" strike="noStrike" cap="none">
              <a:solidFill>
                <a:srgbClr val="242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5" descr="El análisis de datos como una solución de negocios IoT - CIC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4320" y="244048"/>
            <a:ext cx="5087889" cy="4191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LINDO LINDO">
      <a:dk1>
        <a:srgbClr val="000000"/>
      </a:dk1>
      <a:lt1>
        <a:srgbClr val="FFFFFF"/>
      </a:lt1>
      <a:dk2>
        <a:srgbClr val="142F50"/>
      </a:dk2>
      <a:lt2>
        <a:srgbClr val="F9F8F3"/>
      </a:lt2>
      <a:accent1>
        <a:srgbClr val="38A4D4"/>
      </a:accent1>
      <a:accent2>
        <a:srgbClr val="F6F25C"/>
      </a:accent2>
      <a:accent3>
        <a:srgbClr val="FCA810"/>
      </a:accent3>
      <a:accent4>
        <a:srgbClr val="EF255F"/>
      </a:accent4>
      <a:accent5>
        <a:srgbClr val="22B183"/>
      </a:accent5>
      <a:accent6>
        <a:srgbClr val="8C54B6"/>
      </a:accent6>
      <a:hlink>
        <a:srgbClr val="39BCD2"/>
      </a:hlink>
      <a:folHlink>
        <a:srgbClr val="8963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592</Words>
  <Application>Microsoft Office PowerPoint</Application>
  <PresentationFormat>Panorámica</PresentationFormat>
  <Paragraphs>61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Roboto</vt:lpstr>
      <vt:lpstr>Trebuchet MS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 Maria Salazar</dc:creator>
  <cp:lastModifiedBy>Lorena la Montes</cp:lastModifiedBy>
  <cp:revision>1</cp:revision>
  <dcterms:created xsi:type="dcterms:W3CDTF">2024-01-29T20:34:43Z</dcterms:created>
  <dcterms:modified xsi:type="dcterms:W3CDTF">2026-06-04T03:11:24Z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D82F9886-3FD5-42EB-B509-1BFBAE8A1A25</vt:lpwstr>
  </property>
  <property fmtid="{D5CDD505-2E9C-101B-9397-08002B2CF9AE}" pid="3" name="ArticulatePath">
    <vt:lpwstr>Semana1_Videoclase_empaquesyembalajes_V3_David</vt:lpwstr>
  </property>
</Properties>
</file>